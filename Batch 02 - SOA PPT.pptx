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38167851"/>
              </p:ext>
            </p:extLst>
          </p:nvPr>
        </p:nvGraphicFramePr>
        <p:xfrm>
          <a:off x="8750807" y="5289733"/>
          <a:ext cx="3144513" cy="361144"/>
        </p:xfrm>
        <a:graphic>
          <a:graphicData uri="http://schemas.openxmlformats.org/drawingml/2006/table">
            <a:tbl>
              <a:tblPr firstRow="1" bandRow="1">
                <a:tableStyleId>{5940675A-B579-460E-94D1-54222C63F5DA}</a:tableStyleId>
              </a:tblPr>
              <a:tblGrid>
                <a:gridCol w="3144513">
                  <a:extLst>
                    <a:ext uri="{9D8B030D-6E8A-4147-A177-3AD203B41FA5}">
                      <a16:colId xmlns:a16="http://schemas.microsoft.com/office/drawing/2014/main" val="40058472"/>
                    </a:ext>
                  </a:extLst>
                </a:gridCol>
              </a:tblGrid>
              <a:tr h="3611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352717624"/>
              </p:ext>
            </p:extLst>
          </p:nvPr>
        </p:nvGraphicFramePr>
        <p:xfrm>
          <a:off x="-795813" y="4774125"/>
          <a:ext cx="5902325" cy="140208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r>
                        <a:rPr lang="en-US" sz="1800" b="1" kern="1200" dirty="0">
                          <a:solidFill>
                            <a:schemeClr val="tx1"/>
                          </a:solidFill>
                          <a:effectLst/>
                          <a:latin typeface="+mn-lt"/>
                          <a:ea typeface="+mn-ea"/>
                          <a:cs typeface="+mn-cs"/>
                        </a:rPr>
                        <a:t> Dr. Neelima Gogineni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SOA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15636" y="654696"/>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algn="ctr">
              <a:defRPr/>
            </a:pPr>
            <a:r>
              <a:rPr lang="en-US" sz="2800" b="1" dirty="0">
                <a:solidFill>
                  <a:schemeClr val="bg1"/>
                </a:solidFill>
              </a:rPr>
              <a:t>AI Smart Library Assistant &amp; Management System</a:t>
            </a:r>
            <a:endParaRPr lang="en-US" sz="2800" dirty="0">
              <a:solidFill>
                <a:schemeClr val="bg1"/>
              </a:solidFill>
            </a:endParaRPr>
          </a:p>
          <a:p>
            <a:pPr lvl="0" algn="ctr">
              <a:defRPr/>
            </a:pPr>
            <a:endPar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graphicFrame>
        <p:nvGraphicFramePr>
          <p:cNvPr id="2" name="Table 1">
            <a:extLst>
              <a:ext uri="{FF2B5EF4-FFF2-40B4-BE49-F238E27FC236}">
                <a16:creationId xmlns:a16="http://schemas.microsoft.com/office/drawing/2014/main" id="{0BC29170-1256-3FA5-5986-F9063FBCA5CC}"/>
              </a:ext>
            </a:extLst>
          </p:cNvPr>
          <p:cNvGraphicFramePr>
            <a:graphicFrameLocks noGrp="1"/>
          </p:cNvGraphicFramePr>
          <p:nvPr>
            <p:extLst>
              <p:ext uri="{D42A27DB-BD31-4B8C-83A1-F6EECF244321}">
                <p14:modId xmlns:p14="http://schemas.microsoft.com/office/powerpoint/2010/main" val="2813715216"/>
              </p:ext>
            </p:extLst>
          </p:nvPr>
        </p:nvGraphicFramePr>
        <p:xfrm>
          <a:off x="6878320" y="4713165"/>
          <a:ext cx="5231384" cy="1463040"/>
        </p:xfrm>
        <a:graphic>
          <a:graphicData uri="http://schemas.openxmlformats.org/drawingml/2006/table">
            <a:tbl>
              <a:tblPr firstRow="1" bandRow="1">
                <a:tableStyleId>{5C22544A-7EE6-4342-B048-85BDC9FD1C3A}</a:tableStyleId>
              </a:tblPr>
              <a:tblGrid>
                <a:gridCol w="2611769">
                  <a:extLst>
                    <a:ext uri="{9D8B030D-6E8A-4147-A177-3AD203B41FA5}">
                      <a16:colId xmlns:a16="http://schemas.microsoft.com/office/drawing/2014/main" val="1847843089"/>
                    </a:ext>
                  </a:extLst>
                </a:gridCol>
                <a:gridCol w="2619615">
                  <a:extLst>
                    <a:ext uri="{9D8B030D-6E8A-4147-A177-3AD203B41FA5}">
                      <a16:colId xmlns:a16="http://schemas.microsoft.com/office/drawing/2014/main" val="3206477614"/>
                    </a:ext>
                  </a:extLst>
                </a:gridCol>
              </a:tblGrid>
              <a:tr h="350520">
                <a:tc>
                  <a:txBody>
                    <a:bodyPr/>
                    <a:lstStyle/>
                    <a:p>
                      <a:r>
                        <a:rPr lang="en-US" dirty="0"/>
                        <a:t>Name</a:t>
                      </a:r>
                    </a:p>
                  </a:txBody>
                  <a:tcPr/>
                </a:tc>
                <a:tc>
                  <a:txBody>
                    <a:bodyPr/>
                    <a:lstStyle/>
                    <a:p>
                      <a:r>
                        <a:rPr lang="en-US" dirty="0"/>
                        <a:t>Roll.NO</a:t>
                      </a:r>
                    </a:p>
                  </a:txBody>
                  <a:tcPr/>
                </a:tc>
                <a:extLst>
                  <a:ext uri="{0D108BD9-81ED-4DB2-BD59-A6C34878D82A}">
                    <a16:rowId xmlns:a16="http://schemas.microsoft.com/office/drawing/2014/main" val="1850568198"/>
                  </a:ext>
                </a:extLst>
              </a:tr>
              <a:tr h="350520">
                <a:tc>
                  <a:txBody>
                    <a:bodyPr/>
                    <a:lstStyle/>
                    <a:p>
                      <a:r>
                        <a:rPr lang="en-US" dirty="0"/>
                        <a:t>P. Likith Sai</a:t>
                      </a:r>
                    </a:p>
                  </a:txBody>
                  <a:tcPr/>
                </a:tc>
                <a:tc>
                  <a:txBody>
                    <a:bodyPr/>
                    <a:lstStyle/>
                    <a:p>
                      <a:r>
                        <a:rPr lang="en-US" dirty="0"/>
                        <a:t>2420030066</a:t>
                      </a:r>
                    </a:p>
                  </a:txBody>
                  <a:tcPr/>
                </a:tc>
                <a:extLst>
                  <a:ext uri="{0D108BD9-81ED-4DB2-BD59-A6C34878D82A}">
                    <a16:rowId xmlns:a16="http://schemas.microsoft.com/office/drawing/2014/main" val="3866301552"/>
                  </a:ext>
                </a:extLst>
              </a:tr>
              <a:tr h="350520">
                <a:tc>
                  <a:txBody>
                    <a:bodyPr/>
                    <a:lstStyle/>
                    <a:p>
                      <a:r>
                        <a:rPr lang="en-US" dirty="0"/>
                        <a:t>K. Vishnu Priya</a:t>
                      </a:r>
                    </a:p>
                  </a:txBody>
                  <a:tcPr/>
                </a:tc>
                <a:tc>
                  <a:txBody>
                    <a:bodyPr/>
                    <a:lstStyle/>
                    <a:p>
                      <a:r>
                        <a:rPr lang="en-US" dirty="0"/>
                        <a:t>2420030630</a:t>
                      </a:r>
                    </a:p>
                  </a:txBody>
                  <a:tcPr/>
                </a:tc>
                <a:extLst>
                  <a:ext uri="{0D108BD9-81ED-4DB2-BD59-A6C34878D82A}">
                    <a16:rowId xmlns:a16="http://schemas.microsoft.com/office/drawing/2014/main" val="3491282985"/>
                  </a:ext>
                </a:extLst>
              </a:tr>
              <a:tr h="350520">
                <a:tc>
                  <a:txBody>
                    <a:bodyPr/>
                    <a:lstStyle/>
                    <a:p>
                      <a:r>
                        <a:rPr lang="en-US" dirty="0"/>
                        <a:t>B. Nagaraju</a:t>
                      </a:r>
                    </a:p>
                  </a:txBody>
                  <a:tcPr/>
                </a:tc>
                <a:tc>
                  <a:txBody>
                    <a:bodyPr/>
                    <a:lstStyle/>
                    <a:p>
                      <a:r>
                        <a:rPr lang="en-US" dirty="0"/>
                        <a:t>2420030614</a:t>
                      </a:r>
                    </a:p>
                  </a:txBody>
                  <a:tcPr/>
                </a:tc>
                <a:extLst>
                  <a:ext uri="{0D108BD9-81ED-4DB2-BD59-A6C34878D82A}">
                    <a16:rowId xmlns:a16="http://schemas.microsoft.com/office/drawing/2014/main" val="2050379827"/>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0D6F0BAB-16B0-9538-F3E5-5036F4327B20}"/>
              </a:ext>
            </a:extLst>
          </p:cNvPr>
          <p:cNvSpPr txBox="1"/>
          <p:nvPr/>
        </p:nvSpPr>
        <p:spPr>
          <a:xfrm>
            <a:off x="399288" y="1444752"/>
            <a:ext cx="11393424" cy="2817951"/>
          </a:xfrm>
          <a:prstGeom prst="rect">
            <a:avLst/>
          </a:prstGeom>
          <a:noFill/>
        </p:spPr>
        <p:txBody>
          <a:bodyPr wrap="square">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Traditional library management systems rely heavily on manual processes, making book searching, tracking, issuing, and returning time-consuming and inefficient. Users often face difficulties in finding relevant books, while librarians struggle to manage large collections and maintain accurate records. Additionally, the lack of intelligent recommendations and instant user support reduces the overall library experience. Therefore, there is a need for an AI-powered smart library system that automates library operations, improves accessibility, and provides personalized assistance to users.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B09E0590-A33C-0D22-855E-E2A40B74FF34}"/>
              </a:ext>
            </a:extLst>
          </p:cNvPr>
          <p:cNvSpPr txBox="1"/>
          <p:nvPr/>
        </p:nvSpPr>
        <p:spPr>
          <a:xfrm>
            <a:off x="740664" y="1582341"/>
            <a:ext cx="9774936" cy="3376374"/>
          </a:xfrm>
          <a:prstGeom prst="rect">
            <a:avLst/>
          </a:prstGeom>
          <a:noFill/>
        </p:spPr>
        <p:txBody>
          <a:bodyPr wrap="square">
            <a:spAutoFit/>
          </a:bodyPr>
          <a:lstStyle/>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Develop an AI-powered smart library management system.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Automate book issue, return, and reservation processes.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Provide fast and efficient book search functionality.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Recommend books based on user interests and reading history.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Assist users through an AI chatbot for library-related queries.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Maintain accurate records of books and users.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Generate reports and analytics for efficient library management.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Improve the overall user experience and accessibility of library services.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269811734"/>
              </p:ext>
            </p:extLst>
          </p:nvPr>
        </p:nvGraphicFramePr>
        <p:xfrm>
          <a:off x="106679" y="622550"/>
          <a:ext cx="11978641" cy="6107434"/>
        </p:xfrm>
        <a:graphic>
          <a:graphicData uri="http://schemas.openxmlformats.org/drawingml/2006/table">
            <a:tbl>
              <a:tblPr firstRow="1" bandRow="1">
                <a:tableStyleId>{BC89EF96-8CEA-46FF-86C4-4CE0E7609802}</a:tableStyleId>
              </a:tblPr>
              <a:tblGrid>
                <a:gridCol w="1504919">
                  <a:extLst>
                    <a:ext uri="{9D8B030D-6E8A-4147-A177-3AD203B41FA5}">
                      <a16:colId xmlns:a16="http://schemas.microsoft.com/office/drawing/2014/main" val="20001"/>
                    </a:ext>
                  </a:extLst>
                </a:gridCol>
                <a:gridCol w="2239066">
                  <a:extLst>
                    <a:ext uri="{9D8B030D-6E8A-4147-A177-3AD203B41FA5}">
                      <a16:colId xmlns:a16="http://schemas.microsoft.com/office/drawing/2014/main" val="20002"/>
                    </a:ext>
                  </a:extLst>
                </a:gridCol>
                <a:gridCol w="2431264">
                  <a:extLst>
                    <a:ext uri="{9D8B030D-6E8A-4147-A177-3AD203B41FA5}">
                      <a16:colId xmlns:a16="http://schemas.microsoft.com/office/drawing/2014/main" val="20003"/>
                    </a:ext>
                  </a:extLst>
                </a:gridCol>
                <a:gridCol w="2854992">
                  <a:extLst>
                    <a:ext uri="{9D8B030D-6E8A-4147-A177-3AD203B41FA5}">
                      <a16:colId xmlns:a16="http://schemas.microsoft.com/office/drawing/2014/main" val="20004"/>
                    </a:ext>
                  </a:extLst>
                </a:gridCol>
                <a:gridCol w="2948400">
                  <a:extLst>
                    <a:ext uri="{9D8B030D-6E8A-4147-A177-3AD203B41FA5}">
                      <a16:colId xmlns:a16="http://schemas.microsoft.com/office/drawing/2014/main" val="1396003017"/>
                    </a:ext>
                  </a:extLst>
                </a:gridCol>
              </a:tblGrid>
              <a:tr h="387917">
                <a:tc>
                  <a:txBody>
                    <a:bodyPr/>
                    <a:lstStyle/>
                    <a:p>
                      <a:pPr>
                        <a:buNone/>
                      </a:pPr>
                      <a:r>
                        <a:rPr lang="en-US"/>
                        <a:t>Authors</a:t>
                      </a:r>
                    </a:p>
                  </a:txBody>
                  <a:tcPr anchor="ctr">
                    <a:solidFill>
                      <a:srgbClr val="FFFF00"/>
                    </a:solidFill>
                  </a:tcPr>
                </a:tc>
                <a:tc>
                  <a:txBody>
                    <a:bodyPr/>
                    <a:lstStyle/>
                    <a:p>
                      <a:pPr>
                        <a:buNone/>
                      </a:pPr>
                      <a:r>
                        <a:rPr lang="en-US"/>
                        <a:t>Title of the Paper</a:t>
                      </a:r>
                    </a:p>
                  </a:txBody>
                  <a:tcPr anchor="ctr">
                    <a:solidFill>
                      <a:srgbClr val="FFFF00"/>
                    </a:solidFill>
                  </a:tcPr>
                </a:tc>
                <a:tc>
                  <a:txBody>
                    <a:bodyPr/>
                    <a:lstStyle/>
                    <a:p>
                      <a:pPr>
                        <a:buNone/>
                      </a:pPr>
                      <a:r>
                        <a:rPr lang="en-US"/>
                        <a:t>Methodology</a:t>
                      </a:r>
                    </a:p>
                  </a:txBody>
                  <a:tcPr anchor="ctr">
                    <a:solidFill>
                      <a:srgbClr val="FFFF00"/>
                    </a:solidFill>
                  </a:tcPr>
                </a:tc>
                <a:tc>
                  <a:txBody>
                    <a:bodyPr/>
                    <a:lstStyle/>
                    <a:p>
                      <a:pPr>
                        <a:buNone/>
                      </a:pPr>
                      <a:r>
                        <a:rPr lang="en-US"/>
                        <a:t>Inferences</a:t>
                      </a:r>
                    </a:p>
                  </a:txBody>
                  <a:tcPr anchor="ctr">
                    <a:solidFill>
                      <a:srgbClr val="FFFF00"/>
                    </a:solidFill>
                  </a:tcPr>
                </a:tc>
                <a:tc>
                  <a:txBody>
                    <a:bodyPr/>
                    <a:lstStyle/>
                    <a:p>
                      <a:pPr>
                        <a:buNone/>
                      </a:pPr>
                      <a:r>
                        <a:rPr lang="en-US"/>
                        <a:t>Limitation / Future Work</a:t>
                      </a:r>
                    </a:p>
                  </a:txBody>
                  <a:tcPr anchor="ctr">
                    <a:solidFill>
                      <a:srgbClr val="FFFF00"/>
                    </a:solidFill>
                  </a:tcPr>
                </a:tc>
                <a:extLst>
                  <a:ext uri="{0D108BD9-81ED-4DB2-BD59-A6C34878D82A}">
                    <a16:rowId xmlns:a16="http://schemas.microsoft.com/office/drawing/2014/main" val="10000"/>
                  </a:ext>
                </a:extLst>
              </a:tr>
              <a:tr h="1330397">
                <a:tc>
                  <a:txBody>
                    <a:bodyPr/>
                    <a:lstStyle/>
                    <a:p>
                      <a:pPr>
                        <a:buNone/>
                      </a:pPr>
                      <a:r>
                        <a:rPr lang="en-US" b="1"/>
                        <a:t>M. Musto, G. Semeraro, P. Lops (2016)</a:t>
                      </a:r>
                      <a:endParaRPr lang="en-US"/>
                    </a:p>
                  </a:txBody>
                  <a:tcPr anchor="ctr"/>
                </a:tc>
                <a:tc>
                  <a:txBody>
                    <a:bodyPr/>
                    <a:lstStyle/>
                    <a:p>
                      <a:pPr>
                        <a:buNone/>
                      </a:pPr>
                      <a:r>
                        <a:rPr lang="en-US" i="1"/>
                        <a:t>Semantics-Aware Recommender Systems for Digital Libraries</a:t>
                      </a:r>
                      <a:endParaRPr lang="en-US"/>
                    </a:p>
                  </a:txBody>
                  <a:tcPr anchor="ctr"/>
                </a:tc>
                <a:tc>
                  <a:txBody>
                    <a:bodyPr/>
                    <a:lstStyle/>
                    <a:p>
                      <a:pPr>
                        <a:buNone/>
                      </a:pPr>
                      <a:r>
                        <a:rPr lang="en-US" dirty="0"/>
                        <a:t>Content-Based Filtering and Semantic Analysis</a:t>
                      </a:r>
                    </a:p>
                  </a:txBody>
                  <a:tcPr anchor="ctr"/>
                </a:tc>
                <a:tc>
                  <a:txBody>
                    <a:bodyPr/>
                    <a:lstStyle/>
                    <a:p>
                      <a:pPr>
                        <a:buNone/>
                      </a:pPr>
                      <a:r>
                        <a:rPr lang="en-US" dirty="0"/>
                        <a:t>Improved personalized book recommendations for library users.</a:t>
                      </a:r>
                    </a:p>
                  </a:txBody>
                  <a:tcPr anchor="ctr"/>
                </a:tc>
                <a:tc>
                  <a:txBody>
                    <a:bodyPr/>
                    <a:lstStyle/>
                    <a:p>
                      <a:pPr>
                        <a:buNone/>
                      </a:pPr>
                      <a:r>
                        <a:rPr lang="en-US" dirty="0"/>
                        <a:t>Needs larger datasets and better user profiling for higher accuracy.</a:t>
                      </a:r>
                    </a:p>
                  </a:txBody>
                  <a:tcPr anchor="ctr"/>
                </a:tc>
                <a:extLst>
                  <a:ext uri="{0D108BD9-81ED-4DB2-BD59-A6C34878D82A}">
                    <a16:rowId xmlns:a16="http://schemas.microsoft.com/office/drawing/2014/main" val="3714155954"/>
                  </a:ext>
                </a:extLst>
              </a:tr>
              <a:tr h="1354600">
                <a:tc>
                  <a:txBody>
                    <a:bodyPr/>
                    <a:lstStyle/>
                    <a:p>
                      <a:pPr>
                        <a:buNone/>
                      </a:pPr>
                      <a:r>
                        <a:rPr lang="en-US" b="1"/>
                        <a:t>J. Tejeda-Lorente et al. (2014)</a:t>
                      </a:r>
                      <a:endParaRPr lang="en-US"/>
                    </a:p>
                  </a:txBody>
                  <a:tcPr anchor="ctr"/>
                </a:tc>
                <a:tc>
                  <a:txBody>
                    <a:bodyPr/>
                    <a:lstStyle/>
                    <a:p>
                      <a:pPr>
                        <a:buNone/>
                      </a:pPr>
                      <a:r>
                        <a:rPr lang="en-US" i="1"/>
                        <a:t>A Recommendation System for Digital Libraries Based on User Profiles and Semantic Filtering</a:t>
                      </a:r>
                      <a:endParaRPr lang="en-US"/>
                    </a:p>
                  </a:txBody>
                  <a:tcPr anchor="ctr"/>
                </a:tc>
                <a:tc>
                  <a:txBody>
                    <a:bodyPr/>
                    <a:lstStyle/>
                    <a:p>
                      <a:pPr>
                        <a:buNone/>
                      </a:pPr>
                      <a:r>
                        <a:rPr lang="en-US"/>
                        <a:t>Semantic Filtering and User Preference Analysis</a:t>
                      </a:r>
                    </a:p>
                  </a:txBody>
                  <a:tcPr anchor="ctr"/>
                </a:tc>
                <a:tc>
                  <a:txBody>
                    <a:bodyPr/>
                    <a:lstStyle/>
                    <a:p>
                      <a:pPr>
                        <a:buNone/>
                      </a:pPr>
                      <a:r>
                        <a:rPr lang="en-US"/>
                        <a:t>Enhanced discovery of relevant books and resources.</a:t>
                      </a:r>
                    </a:p>
                  </a:txBody>
                  <a:tcPr anchor="ctr"/>
                </a:tc>
                <a:tc>
                  <a:txBody>
                    <a:bodyPr/>
                    <a:lstStyle/>
                    <a:p>
                      <a:pPr>
                        <a:buNone/>
                      </a:pPr>
                      <a:r>
                        <a:rPr lang="en-US"/>
                        <a:t>Performance decreases when user history is limited.</a:t>
                      </a:r>
                    </a:p>
                  </a:txBody>
                  <a:tcPr anchor="ctr"/>
                </a:tc>
                <a:extLst>
                  <a:ext uri="{0D108BD9-81ED-4DB2-BD59-A6C34878D82A}">
                    <a16:rowId xmlns:a16="http://schemas.microsoft.com/office/drawing/2014/main" val="2655426370"/>
                  </a:ext>
                </a:extLst>
              </a:tr>
              <a:tr h="1354600">
                <a:tc>
                  <a:txBody>
                    <a:bodyPr/>
                    <a:lstStyle/>
                    <a:p>
                      <a:pPr>
                        <a:buNone/>
                      </a:pPr>
                      <a:r>
                        <a:rPr lang="en-US" b="1"/>
                        <a:t>A. S. Ghareb, A. A. Bakar, A. R. Hamdan (2019)</a:t>
                      </a:r>
                      <a:endParaRPr lang="en-US"/>
                    </a:p>
                  </a:txBody>
                  <a:tcPr anchor="ctr"/>
                </a:tc>
                <a:tc>
                  <a:txBody>
                    <a:bodyPr/>
                    <a:lstStyle/>
                    <a:p>
                      <a:pPr>
                        <a:buNone/>
                      </a:pPr>
                      <a:r>
                        <a:rPr lang="en-US" i="1"/>
                        <a:t>Hybrid Recommendation System for Library Services</a:t>
                      </a:r>
                      <a:endParaRPr lang="en-US"/>
                    </a:p>
                  </a:txBody>
                  <a:tcPr anchor="ctr"/>
                </a:tc>
                <a:tc>
                  <a:txBody>
                    <a:bodyPr/>
                    <a:lstStyle/>
                    <a:p>
                      <a:pPr>
                        <a:buNone/>
                      </a:pPr>
                      <a:r>
                        <a:rPr lang="en-US"/>
                        <a:t>Hybrid Recommendation (Collaborative + Content-Based Filtering)</a:t>
                      </a:r>
                    </a:p>
                  </a:txBody>
                  <a:tcPr anchor="ctr"/>
                </a:tc>
                <a:tc>
                  <a:txBody>
                    <a:bodyPr/>
                    <a:lstStyle/>
                    <a:p>
                      <a:pPr>
                        <a:buNone/>
                      </a:pPr>
                      <a:r>
                        <a:rPr lang="en-US"/>
                        <a:t>Provides more accurate recommendations than traditional methods.</a:t>
                      </a:r>
                    </a:p>
                  </a:txBody>
                  <a:tcPr anchor="ctr"/>
                </a:tc>
                <a:tc>
                  <a:txBody>
                    <a:bodyPr/>
                    <a:lstStyle/>
                    <a:p>
                      <a:pPr>
                        <a:buNone/>
                      </a:pPr>
                      <a:r>
                        <a:rPr lang="en-US"/>
                        <a:t>Requires continuous updating of user preference data.</a:t>
                      </a:r>
                    </a:p>
                  </a:txBody>
                  <a:tcPr anchor="ctr"/>
                </a:tc>
                <a:extLst>
                  <a:ext uri="{0D108BD9-81ED-4DB2-BD59-A6C34878D82A}">
                    <a16:rowId xmlns:a16="http://schemas.microsoft.com/office/drawing/2014/main" val="2841575018"/>
                  </a:ext>
                </a:extLst>
              </a:tr>
              <a:tr h="1354600">
                <a:tc>
                  <a:txBody>
                    <a:bodyPr/>
                    <a:lstStyle/>
                    <a:p>
                      <a:pPr>
                        <a:buNone/>
                      </a:pPr>
                      <a:r>
                        <a:rPr lang="en-US" b="1" dirty="0"/>
                        <a:t>Proposed System</a:t>
                      </a:r>
                      <a:endParaRPr lang="en-US" dirty="0"/>
                    </a:p>
                  </a:txBody>
                  <a:tcPr anchor="ctr"/>
                </a:tc>
                <a:tc>
                  <a:txBody>
                    <a:bodyPr/>
                    <a:lstStyle/>
                    <a:p>
                      <a:pPr>
                        <a:buNone/>
                      </a:pPr>
                      <a:r>
                        <a:rPr lang="en-US" i="1"/>
                        <a:t>AI Smart Library Assistant &amp; Management System</a:t>
                      </a:r>
                      <a:endParaRPr lang="en-US"/>
                    </a:p>
                  </a:txBody>
                  <a:tcPr anchor="ctr"/>
                </a:tc>
                <a:tc>
                  <a:txBody>
                    <a:bodyPr/>
                    <a:lstStyle/>
                    <a:p>
                      <a:pPr>
                        <a:buNone/>
                      </a:pPr>
                      <a:r>
                        <a:rPr lang="en-US"/>
                        <a:t>AI Chatbot, NLP Search, Recommendation Engine, Automated Library Management</a:t>
                      </a:r>
                    </a:p>
                  </a:txBody>
                  <a:tcPr anchor="ctr"/>
                </a:tc>
                <a:tc>
                  <a:txBody>
                    <a:bodyPr/>
                    <a:lstStyle/>
                    <a:p>
                      <a:pPr>
                        <a:buNone/>
                      </a:pPr>
                      <a:r>
                        <a:rPr lang="en-US" dirty="0"/>
                        <a:t>Combines intelligent search, recommendations, and library automation in a single platform.</a:t>
                      </a:r>
                    </a:p>
                  </a:txBody>
                  <a:tcPr anchor="ctr"/>
                </a:tc>
                <a:tc>
                  <a:txBody>
                    <a:bodyPr/>
                    <a:lstStyle/>
                    <a:p>
                      <a:pPr>
                        <a:buNone/>
                      </a:pPr>
                      <a:r>
                        <a:rPr lang="en-US" dirty="0"/>
                        <a:t>Future enhancements include voice assistant, mobile application, and cloud deployment.</a:t>
                      </a:r>
                    </a:p>
                  </a:txBody>
                  <a:tcPr anchor="ctr"/>
                </a:tc>
                <a:extLst>
                  <a:ext uri="{0D108BD9-81ED-4DB2-BD59-A6C34878D82A}">
                    <a16:rowId xmlns:a16="http://schemas.microsoft.com/office/drawing/2014/main" val="2577662675"/>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6" y="0"/>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782824" y="190816"/>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4" name="Table 3">
            <a:extLst>
              <a:ext uri="{FF2B5EF4-FFF2-40B4-BE49-F238E27FC236}">
                <a16:creationId xmlns:a16="http://schemas.microsoft.com/office/drawing/2014/main" id="{48D7049A-35D9-AD81-937B-774DEB506B48}"/>
              </a:ext>
            </a:extLst>
          </p:cNvPr>
          <p:cNvGraphicFramePr>
            <a:graphicFrameLocks noGrp="1"/>
          </p:cNvGraphicFramePr>
          <p:nvPr>
            <p:extLst>
              <p:ext uri="{D42A27DB-BD31-4B8C-83A1-F6EECF244321}">
                <p14:modId xmlns:p14="http://schemas.microsoft.com/office/powerpoint/2010/main" val="3853928800"/>
              </p:ext>
            </p:extLst>
          </p:nvPr>
        </p:nvGraphicFramePr>
        <p:xfrm>
          <a:off x="813816" y="984842"/>
          <a:ext cx="10213848" cy="4117510"/>
        </p:xfrm>
        <a:graphic>
          <a:graphicData uri="http://schemas.openxmlformats.org/drawingml/2006/table">
            <a:tbl>
              <a:tblPr firstRow="1" bandRow="1">
                <a:tableStyleId>{5C22544A-7EE6-4342-B048-85BDC9FD1C3A}</a:tableStyleId>
              </a:tblPr>
              <a:tblGrid>
                <a:gridCol w="3404616">
                  <a:extLst>
                    <a:ext uri="{9D8B030D-6E8A-4147-A177-3AD203B41FA5}">
                      <a16:colId xmlns:a16="http://schemas.microsoft.com/office/drawing/2014/main" val="2252041723"/>
                    </a:ext>
                  </a:extLst>
                </a:gridCol>
                <a:gridCol w="3404616">
                  <a:extLst>
                    <a:ext uri="{9D8B030D-6E8A-4147-A177-3AD203B41FA5}">
                      <a16:colId xmlns:a16="http://schemas.microsoft.com/office/drawing/2014/main" val="1202787018"/>
                    </a:ext>
                  </a:extLst>
                </a:gridCol>
                <a:gridCol w="3404616">
                  <a:extLst>
                    <a:ext uri="{9D8B030D-6E8A-4147-A177-3AD203B41FA5}">
                      <a16:colId xmlns:a16="http://schemas.microsoft.com/office/drawing/2014/main" val="4281785966"/>
                    </a:ext>
                  </a:extLst>
                </a:gridCol>
              </a:tblGrid>
              <a:tr h="415738">
                <a:tc>
                  <a:txBody>
                    <a:bodyPr/>
                    <a:lstStyle/>
                    <a:p>
                      <a:pPr>
                        <a:buNone/>
                      </a:pPr>
                      <a:r>
                        <a:rPr lang="en-US" dirty="0"/>
                        <a:t>Existing System</a:t>
                      </a:r>
                    </a:p>
                  </a:txBody>
                  <a:tcPr anchor="ctr"/>
                </a:tc>
                <a:tc>
                  <a:txBody>
                    <a:bodyPr/>
                    <a:lstStyle/>
                    <a:p>
                      <a:pPr>
                        <a:buNone/>
                      </a:pPr>
                      <a:r>
                        <a:rPr lang="en-US" dirty="0"/>
                        <a:t>Gap Identified</a:t>
                      </a:r>
                    </a:p>
                  </a:txBody>
                  <a:tcPr anchor="ctr"/>
                </a:tc>
                <a:tc>
                  <a:txBody>
                    <a:bodyPr/>
                    <a:lstStyle/>
                    <a:p>
                      <a:pPr>
                        <a:buNone/>
                      </a:pPr>
                      <a:r>
                        <a:rPr lang="en-US"/>
                        <a:t>Proposed Solution</a:t>
                      </a:r>
                    </a:p>
                  </a:txBody>
                  <a:tcPr anchor="ctr"/>
                </a:tc>
                <a:extLst>
                  <a:ext uri="{0D108BD9-81ED-4DB2-BD59-A6C34878D82A}">
                    <a16:rowId xmlns:a16="http://schemas.microsoft.com/office/drawing/2014/main" val="2997187576"/>
                  </a:ext>
                </a:extLst>
              </a:tr>
              <a:tr h="717574">
                <a:tc>
                  <a:txBody>
                    <a:bodyPr/>
                    <a:lstStyle/>
                    <a:p>
                      <a:pPr>
                        <a:buNone/>
                      </a:pPr>
                      <a:r>
                        <a:rPr lang="en-US"/>
                        <a:t>Manual book management</a:t>
                      </a:r>
                    </a:p>
                  </a:txBody>
                  <a:tcPr anchor="ctr"/>
                </a:tc>
                <a:tc>
                  <a:txBody>
                    <a:bodyPr/>
                    <a:lstStyle/>
                    <a:p>
                      <a:pPr>
                        <a:buNone/>
                      </a:pPr>
                      <a:r>
                        <a:rPr lang="en-US"/>
                        <a:t>Time-consuming and error-prone</a:t>
                      </a:r>
                    </a:p>
                  </a:txBody>
                  <a:tcPr anchor="ctr"/>
                </a:tc>
                <a:tc>
                  <a:txBody>
                    <a:bodyPr/>
                    <a:lstStyle/>
                    <a:p>
                      <a:pPr>
                        <a:buNone/>
                      </a:pPr>
                      <a:r>
                        <a:rPr lang="en-US"/>
                        <a:t>Automated library management</a:t>
                      </a:r>
                    </a:p>
                  </a:txBody>
                  <a:tcPr anchor="ctr"/>
                </a:tc>
                <a:extLst>
                  <a:ext uri="{0D108BD9-81ED-4DB2-BD59-A6C34878D82A}">
                    <a16:rowId xmlns:a16="http://schemas.microsoft.com/office/drawing/2014/main" val="609224680"/>
                  </a:ext>
                </a:extLst>
              </a:tr>
              <a:tr h="415738">
                <a:tc>
                  <a:txBody>
                    <a:bodyPr/>
                    <a:lstStyle/>
                    <a:p>
                      <a:pPr>
                        <a:buNone/>
                      </a:pPr>
                      <a:r>
                        <a:rPr lang="en-US"/>
                        <a:t>Basic keyword search</a:t>
                      </a:r>
                    </a:p>
                  </a:txBody>
                  <a:tcPr anchor="ctr"/>
                </a:tc>
                <a:tc>
                  <a:txBody>
                    <a:bodyPr/>
                    <a:lstStyle/>
                    <a:p>
                      <a:pPr>
                        <a:buNone/>
                      </a:pPr>
                      <a:r>
                        <a:rPr lang="en-US"/>
                        <a:t>Difficult to find relevant books</a:t>
                      </a:r>
                    </a:p>
                  </a:txBody>
                  <a:tcPr anchor="ctr"/>
                </a:tc>
                <a:tc>
                  <a:txBody>
                    <a:bodyPr/>
                    <a:lstStyle/>
                    <a:p>
                      <a:pPr>
                        <a:buNone/>
                      </a:pPr>
                      <a:r>
                        <a:rPr lang="en-US"/>
                        <a:t>AI-powered smart search</a:t>
                      </a:r>
                    </a:p>
                  </a:txBody>
                  <a:tcPr anchor="ctr"/>
                </a:tc>
                <a:extLst>
                  <a:ext uri="{0D108BD9-81ED-4DB2-BD59-A6C34878D82A}">
                    <a16:rowId xmlns:a16="http://schemas.microsoft.com/office/drawing/2014/main" val="3652946738"/>
                  </a:ext>
                </a:extLst>
              </a:tr>
              <a:tr h="717574">
                <a:tc>
                  <a:txBody>
                    <a:bodyPr/>
                    <a:lstStyle/>
                    <a:p>
                      <a:pPr>
                        <a:buNone/>
                      </a:pPr>
                      <a:r>
                        <a:rPr lang="en-US"/>
                        <a:t>No personalized recommendations</a:t>
                      </a:r>
                    </a:p>
                  </a:txBody>
                  <a:tcPr anchor="ctr"/>
                </a:tc>
                <a:tc>
                  <a:txBody>
                    <a:bodyPr/>
                    <a:lstStyle/>
                    <a:p>
                      <a:pPr>
                        <a:buNone/>
                      </a:pPr>
                      <a:r>
                        <a:rPr lang="en-US"/>
                        <a:t>Users may miss useful books</a:t>
                      </a:r>
                    </a:p>
                  </a:txBody>
                  <a:tcPr anchor="ctr"/>
                </a:tc>
                <a:tc>
                  <a:txBody>
                    <a:bodyPr/>
                    <a:lstStyle/>
                    <a:p>
                      <a:pPr>
                        <a:buNone/>
                      </a:pPr>
                      <a:r>
                        <a:rPr lang="en-US"/>
                        <a:t>AI-based book recommendation system</a:t>
                      </a:r>
                    </a:p>
                  </a:txBody>
                  <a:tcPr anchor="ctr"/>
                </a:tc>
                <a:extLst>
                  <a:ext uri="{0D108BD9-81ED-4DB2-BD59-A6C34878D82A}">
                    <a16:rowId xmlns:a16="http://schemas.microsoft.com/office/drawing/2014/main" val="2274944857"/>
                  </a:ext>
                </a:extLst>
              </a:tr>
              <a:tr h="415738">
                <a:tc>
                  <a:txBody>
                    <a:bodyPr/>
                    <a:lstStyle/>
                    <a:p>
                      <a:pPr>
                        <a:buNone/>
                      </a:pPr>
                      <a:r>
                        <a:rPr lang="en-US"/>
                        <a:t>Limited user support</a:t>
                      </a:r>
                    </a:p>
                  </a:txBody>
                  <a:tcPr anchor="ctr"/>
                </a:tc>
                <a:tc>
                  <a:txBody>
                    <a:bodyPr/>
                    <a:lstStyle/>
                    <a:p>
                      <a:pPr>
                        <a:buNone/>
                      </a:pPr>
                      <a:r>
                        <a:rPr lang="en-US"/>
                        <a:t>Delays in resolving queries</a:t>
                      </a:r>
                    </a:p>
                  </a:txBody>
                  <a:tcPr anchor="ctr"/>
                </a:tc>
                <a:tc>
                  <a:txBody>
                    <a:bodyPr/>
                    <a:lstStyle/>
                    <a:p>
                      <a:pPr>
                        <a:buNone/>
                      </a:pPr>
                      <a:r>
                        <a:rPr lang="en-US"/>
                        <a:t>AI chatbot assistance</a:t>
                      </a:r>
                    </a:p>
                  </a:txBody>
                  <a:tcPr anchor="ctr"/>
                </a:tc>
                <a:extLst>
                  <a:ext uri="{0D108BD9-81ED-4DB2-BD59-A6C34878D82A}">
                    <a16:rowId xmlns:a16="http://schemas.microsoft.com/office/drawing/2014/main" val="1928045651"/>
                  </a:ext>
                </a:extLst>
              </a:tr>
              <a:tr h="717574">
                <a:tc>
                  <a:txBody>
                    <a:bodyPr/>
                    <a:lstStyle/>
                    <a:p>
                      <a:pPr>
                        <a:buNone/>
                      </a:pPr>
                      <a:r>
                        <a:rPr lang="en-US"/>
                        <a:t>Manual tracking of issued books</a:t>
                      </a:r>
                    </a:p>
                  </a:txBody>
                  <a:tcPr anchor="ctr"/>
                </a:tc>
                <a:tc>
                  <a:txBody>
                    <a:bodyPr/>
                    <a:lstStyle/>
                    <a:p>
                      <a:pPr>
                        <a:buNone/>
                      </a:pPr>
                      <a:r>
                        <a:rPr lang="en-US"/>
                        <a:t>Risk of record inaccuracies</a:t>
                      </a:r>
                    </a:p>
                  </a:txBody>
                  <a:tcPr anchor="ctr"/>
                </a:tc>
                <a:tc>
                  <a:txBody>
                    <a:bodyPr/>
                    <a:lstStyle/>
                    <a:p>
                      <a:pPr>
                        <a:buNone/>
                      </a:pPr>
                      <a:r>
                        <a:rPr lang="en-US"/>
                        <a:t>Real-time tracking and notifications</a:t>
                      </a:r>
                    </a:p>
                  </a:txBody>
                  <a:tcPr anchor="ctr"/>
                </a:tc>
                <a:extLst>
                  <a:ext uri="{0D108BD9-81ED-4DB2-BD59-A6C34878D82A}">
                    <a16:rowId xmlns:a16="http://schemas.microsoft.com/office/drawing/2014/main" val="4201740554"/>
                  </a:ext>
                </a:extLst>
              </a:tr>
              <a:tr h="717574">
                <a:tc>
                  <a:txBody>
                    <a:bodyPr/>
                    <a:lstStyle/>
                    <a:p>
                      <a:pPr>
                        <a:buNone/>
                      </a:pPr>
                      <a:r>
                        <a:rPr lang="en-US"/>
                        <a:t>Traditional reporting methods</a:t>
                      </a:r>
                    </a:p>
                  </a:txBody>
                  <a:tcPr anchor="ctr"/>
                </a:tc>
                <a:tc>
                  <a:txBody>
                    <a:bodyPr/>
                    <a:lstStyle/>
                    <a:p>
                      <a:pPr>
                        <a:buNone/>
                      </a:pPr>
                      <a:r>
                        <a:rPr lang="en-US"/>
                        <a:t>Lack of insights and analytics</a:t>
                      </a:r>
                    </a:p>
                  </a:txBody>
                  <a:tcPr anchor="ctr"/>
                </a:tc>
                <a:tc>
                  <a:txBody>
                    <a:bodyPr/>
                    <a:lstStyle/>
                    <a:p>
                      <a:pPr>
                        <a:buNone/>
                      </a:pPr>
                      <a:r>
                        <a:rPr lang="en-US" dirty="0"/>
                        <a:t>Automated reports and dashboards</a:t>
                      </a:r>
                    </a:p>
                  </a:txBody>
                  <a:tcPr anchor="ctr"/>
                </a:tc>
                <a:extLst>
                  <a:ext uri="{0D108BD9-81ED-4DB2-BD59-A6C34878D82A}">
                    <a16:rowId xmlns:a16="http://schemas.microsoft.com/office/drawing/2014/main" val="2722233576"/>
                  </a:ext>
                </a:extLst>
              </a:tr>
            </a:tbl>
          </a:graphicData>
        </a:graphic>
      </p:graphicFrame>
      <p:sp>
        <p:nvSpPr>
          <p:cNvPr id="7" name="TextBox 6">
            <a:extLst>
              <a:ext uri="{FF2B5EF4-FFF2-40B4-BE49-F238E27FC236}">
                <a16:creationId xmlns:a16="http://schemas.microsoft.com/office/drawing/2014/main" id="{8DF85C22-3F3F-24D3-CBE5-B5C993B3782F}"/>
              </a:ext>
            </a:extLst>
          </p:cNvPr>
          <p:cNvSpPr txBox="1"/>
          <p:nvPr/>
        </p:nvSpPr>
        <p:spPr>
          <a:xfrm>
            <a:off x="252984" y="5272993"/>
            <a:ext cx="11686032" cy="1200329"/>
          </a:xfrm>
          <a:prstGeom prst="rect">
            <a:avLst/>
          </a:prstGeom>
          <a:noFill/>
        </p:spPr>
        <p:txBody>
          <a:bodyPr wrap="square">
            <a:spAutoFit/>
          </a:bodyPr>
          <a:lstStyle/>
          <a:p>
            <a:pPr algn="just"/>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Current library systems lack intelligent assistance, personalized recommendations, and automation. The proposed AI Smart Library Assistant &amp; Management System bridges this gap by integrating Artificial Intelligence, smart search, automated management, and real-time user support.</a:t>
            </a:r>
          </a:p>
        </p:txBody>
      </p:sp>
      <p:sp>
        <p:nvSpPr>
          <p:cNvPr id="9" name="TextBox 8">
            <a:extLst>
              <a:ext uri="{FF2B5EF4-FFF2-40B4-BE49-F238E27FC236}">
                <a16:creationId xmlns:a16="http://schemas.microsoft.com/office/drawing/2014/main" id="{2CFC39E2-10FE-D94D-9D2E-9C7ABFE7C265}"/>
              </a:ext>
            </a:extLst>
          </p:cNvPr>
          <p:cNvSpPr txBox="1"/>
          <p:nvPr/>
        </p:nvSpPr>
        <p:spPr>
          <a:xfrm>
            <a:off x="252984" y="5250047"/>
            <a:ext cx="1932432" cy="369332"/>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Gap Statement:</a:t>
            </a:r>
            <a:endParaRPr lang="en-US" b="1"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44A41C1-45D9-DEB4-7D4C-BDBC6E0189E3}"/>
              </a:ext>
            </a:extLst>
          </p:cNvPr>
          <p:cNvSpPr txBox="1"/>
          <p:nvPr/>
        </p:nvSpPr>
        <p:spPr>
          <a:xfrm>
            <a:off x="768096" y="1754024"/>
            <a:ext cx="11100816" cy="4622869"/>
          </a:xfrm>
          <a:prstGeom prst="rect">
            <a:avLst/>
          </a:prstGeom>
          <a:noFill/>
        </p:spPr>
        <p:txBody>
          <a:bodyPr wrap="square">
            <a:spAutoFit/>
          </a:bodyPr>
          <a:lstStyle/>
          <a:p>
            <a:pPr marL="342900" lvl="0" indent="-342900">
              <a:lnSpc>
                <a:spcPct val="150000"/>
              </a:lnSpc>
              <a:buFont typeface="+mj-lt"/>
              <a:buAutoNum type="arabicPeriod"/>
            </a:pPr>
            <a:r>
              <a:rPr lang="en-US" b="1" dirty="0"/>
              <a:t>AI-Powered Book Recommendation System</a:t>
            </a:r>
            <a:r>
              <a:rPr lang="en-US" dirty="0"/>
              <a:t> that suggests books based on users' interests and reading history. </a:t>
            </a:r>
          </a:p>
          <a:p>
            <a:pPr marL="342900" lvl="0" indent="-342900">
              <a:lnSpc>
                <a:spcPct val="150000"/>
              </a:lnSpc>
              <a:buFont typeface="+mj-lt"/>
              <a:buAutoNum type="arabicPeriod"/>
            </a:pPr>
            <a:r>
              <a:rPr lang="en-US" b="1" dirty="0"/>
              <a:t>Intelligent Library Chatbot</a:t>
            </a:r>
            <a:r>
              <a:rPr lang="en-US" dirty="0"/>
              <a:t> for instant assistance and answering user queries. </a:t>
            </a:r>
          </a:p>
          <a:p>
            <a:pPr marL="342900" lvl="0" indent="-342900">
              <a:lnSpc>
                <a:spcPct val="150000"/>
              </a:lnSpc>
              <a:buFont typeface="+mj-lt"/>
              <a:buAutoNum type="arabicPeriod"/>
            </a:pPr>
            <a:r>
              <a:rPr lang="en-US" b="1" dirty="0"/>
              <a:t>Natural Language Search</a:t>
            </a:r>
            <a:r>
              <a:rPr lang="en-US" dirty="0"/>
              <a:t> allowing users to search books using simple sentences. </a:t>
            </a:r>
          </a:p>
          <a:p>
            <a:pPr marL="342900" lvl="0" indent="-342900">
              <a:lnSpc>
                <a:spcPct val="150000"/>
              </a:lnSpc>
              <a:buFont typeface="+mj-lt"/>
              <a:buAutoNum type="arabicPeriod"/>
            </a:pPr>
            <a:r>
              <a:rPr lang="en-US" b="1" dirty="0"/>
              <a:t>Automated Book Issue, Return, and Fine Management</a:t>
            </a:r>
            <a:r>
              <a:rPr lang="en-US" dirty="0"/>
              <a:t> to reduce manual effort. </a:t>
            </a:r>
          </a:p>
          <a:p>
            <a:pPr marL="342900" lvl="0" indent="-342900">
              <a:lnSpc>
                <a:spcPct val="150000"/>
              </a:lnSpc>
              <a:buFont typeface="+mj-lt"/>
              <a:buAutoNum type="arabicPeriod"/>
            </a:pPr>
            <a:r>
              <a:rPr lang="en-US" b="1" dirty="0"/>
              <a:t>Real-Time Notifications</a:t>
            </a:r>
            <a:r>
              <a:rPr lang="en-US" dirty="0"/>
              <a:t> for due dates, reservations, and book availability. </a:t>
            </a:r>
          </a:p>
          <a:p>
            <a:pPr marL="342900" lvl="0" indent="-342900">
              <a:lnSpc>
                <a:spcPct val="150000"/>
              </a:lnSpc>
              <a:buFont typeface="+mj-lt"/>
              <a:buAutoNum type="arabicPeriod"/>
            </a:pPr>
            <a:r>
              <a:rPr lang="en-US" b="1" dirty="0"/>
              <a:t>Personalized Reading Experience</a:t>
            </a:r>
            <a:r>
              <a:rPr lang="en-US" dirty="0"/>
              <a:t> through AI-driven recommendations and analytics. </a:t>
            </a:r>
          </a:p>
          <a:p>
            <a:pPr marL="342900" lvl="0" indent="-342900">
              <a:lnSpc>
                <a:spcPct val="150000"/>
              </a:lnSpc>
              <a:buFont typeface="+mj-lt"/>
              <a:buAutoNum type="arabicPeriod"/>
            </a:pPr>
            <a:r>
              <a:rPr lang="en-US" b="1" dirty="0"/>
              <a:t>Smart Admin Dashboard</a:t>
            </a:r>
            <a:r>
              <a:rPr lang="en-US" dirty="0"/>
              <a:t> for efficient monitoring and management of library resources. </a:t>
            </a:r>
          </a:p>
          <a:p>
            <a:pPr>
              <a:lnSpc>
                <a:spcPct val="150000"/>
              </a:lnSpc>
              <a:buNone/>
            </a:pPr>
            <a:r>
              <a:rPr lang="en-US" b="1" dirty="0"/>
              <a:t>Novelty:</a:t>
            </a:r>
            <a:br>
              <a:rPr lang="en-US" dirty="0"/>
            </a:br>
            <a:r>
              <a:rPr lang="en-US" dirty="0"/>
              <a:t>The system combines </a:t>
            </a:r>
            <a:r>
              <a:rPr lang="en-US" b="1" dirty="0"/>
              <a:t>Library Management, AI Recommendations, NLP-based Search, and Chatbot Assistance</a:t>
            </a:r>
            <a:r>
              <a:rPr lang="en-US" dirty="0"/>
              <a:t> into a single platform, creating a smarter and more user-friendly digital library experience.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59348" y="121392"/>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1F7AC6A-2DDE-81ED-269A-2CF06A77D936}"/>
              </a:ext>
            </a:extLst>
          </p:cNvPr>
          <p:cNvSpPr txBox="1"/>
          <p:nvPr/>
        </p:nvSpPr>
        <p:spPr>
          <a:xfrm>
            <a:off x="201919" y="867244"/>
            <a:ext cx="11548872" cy="5869364"/>
          </a:xfrm>
          <a:prstGeom prst="rect">
            <a:avLst/>
          </a:prstGeom>
          <a:noFill/>
        </p:spPr>
        <p:txBody>
          <a:bodyPr wrap="square">
            <a:spAutoFit/>
          </a:bodyPr>
          <a:lstStyle/>
          <a:p>
            <a:pPr algn="just">
              <a:lnSpc>
                <a:spcPct val="150000"/>
              </a:lnSpc>
              <a:buNone/>
            </a:pPr>
            <a:r>
              <a:rPr lang="en-US" dirty="0"/>
              <a:t>The </a:t>
            </a:r>
            <a:r>
              <a:rPr lang="en-US" b="1" dirty="0"/>
              <a:t>AI Smart Library Assistant &amp; Management System</a:t>
            </a:r>
            <a:r>
              <a:rPr lang="en-US" dirty="0"/>
              <a:t> is feasible to implement using technologies such as Python, React, MongoDB, and AI-based recommendation models. The system is cost-effective, easy to develop, and suitable for educational institutions and libraries.</a:t>
            </a:r>
          </a:p>
          <a:p>
            <a:pPr algn="just">
              <a:lnSpc>
                <a:spcPct val="150000"/>
              </a:lnSpc>
              <a:buNone/>
            </a:pPr>
            <a:r>
              <a:rPr lang="en-US" b="1" dirty="0"/>
              <a:t>Technical Feasibility</a:t>
            </a:r>
          </a:p>
          <a:p>
            <a:pPr marL="342900" lvl="0" indent="-342900" algn="just">
              <a:lnSpc>
                <a:spcPct val="150000"/>
              </a:lnSpc>
              <a:buFont typeface="Arial" panose="020B0604020202020204" pitchFamily="34" charset="0"/>
              <a:buChar char="•"/>
            </a:pPr>
            <a:r>
              <a:rPr lang="en-US" dirty="0"/>
              <a:t>Uses open-source technologies. </a:t>
            </a:r>
          </a:p>
          <a:p>
            <a:pPr marL="342900" lvl="0" indent="-342900" algn="just">
              <a:lnSpc>
                <a:spcPct val="150000"/>
              </a:lnSpc>
              <a:buFont typeface="Arial" panose="020B0604020202020204" pitchFamily="34" charset="0"/>
              <a:buChar char="•"/>
            </a:pPr>
            <a:r>
              <a:rPr lang="en-US" dirty="0"/>
              <a:t>Easy integration of AI features. </a:t>
            </a:r>
          </a:p>
          <a:p>
            <a:pPr marL="342900" lvl="0" indent="-342900" algn="just">
              <a:lnSpc>
                <a:spcPct val="150000"/>
              </a:lnSpc>
              <a:buFont typeface="Arial" panose="020B0604020202020204" pitchFamily="34" charset="0"/>
              <a:buChar char="•"/>
            </a:pPr>
            <a:r>
              <a:rPr lang="en-US" dirty="0"/>
              <a:t>Simple deployment and maintenance. </a:t>
            </a:r>
          </a:p>
          <a:p>
            <a:pPr algn="just">
              <a:lnSpc>
                <a:spcPct val="150000"/>
              </a:lnSpc>
              <a:buNone/>
            </a:pPr>
            <a:r>
              <a:rPr lang="en-US" b="1" dirty="0"/>
              <a:t>Economic Feasibility</a:t>
            </a:r>
          </a:p>
          <a:p>
            <a:pPr marL="342900" lvl="0" indent="-342900" algn="just">
              <a:lnSpc>
                <a:spcPct val="150000"/>
              </a:lnSpc>
              <a:buFont typeface="Arial" panose="020B0604020202020204" pitchFamily="34" charset="0"/>
              <a:buChar char="•"/>
            </a:pPr>
            <a:r>
              <a:rPr lang="en-US" dirty="0"/>
              <a:t>Low development cost. </a:t>
            </a:r>
          </a:p>
          <a:p>
            <a:pPr marL="342900" lvl="0" indent="-342900" algn="just">
              <a:lnSpc>
                <a:spcPct val="150000"/>
              </a:lnSpc>
              <a:buFont typeface="Arial" panose="020B0604020202020204" pitchFamily="34" charset="0"/>
              <a:buChar char="•"/>
            </a:pPr>
            <a:r>
              <a:rPr lang="en-US" dirty="0"/>
              <a:t>No expensive hardware required. </a:t>
            </a:r>
          </a:p>
          <a:p>
            <a:pPr marL="342900" lvl="0" indent="-342900" algn="just">
              <a:lnSpc>
                <a:spcPct val="150000"/>
              </a:lnSpc>
              <a:buFont typeface="Arial" panose="020B0604020202020204" pitchFamily="34" charset="0"/>
              <a:buChar char="•"/>
            </a:pPr>
            <a:r>
              <a:rPr lang="en-US" dirty="0"/>
              <a:t>Minimal operational expenses. </a:t>
            </a:r>
          </a:p>
          <a:p>
            <a:pPr algn="just">
              <a:lnSpc>
                <a:spcPct val="150000"/>
              </a:lnSpc>
              <a:buNone/>
            </a:pPr>
            <a:r>
              <a:rPr lang="en-US" b="1" dirty="0"/>
              <a:t>Operational Feasibility</a:t>
            </a:r>
          </a:p>
          <a:p>
            <a:pPr marL="342900" lvl="0" indent="-342900" algn="just">
              <a:lnSpc>
                <a:spcPct val="150000"/>
              </a:lnSpc>
              <a:buFont typeface="Arial" panose="020B0604020202020204" pitchFamily="34" charset="0"/>
              <a:buChar char="•"/>
            </a:pPr>
            <a:r>
              <a:rPr lang="en-US" dirty="0"/>
              <a:t>Easy for students and librarians to use. </a:t>
            </a:r>
          </a:p>
          <a:p>
            <a:pPr marL="342900" lvl="0" indent="-342900" algn="just">
              <a:lnSpc>
                <a:spcPct val="150000"/>
              </a:lnSpc>
              <a:buFont typeface="Arial" panose="020B0604020202020204" pitchFamily="34" charset="0"/>
              <a:buChar char="•"/>
            </a:pPr>
            <a:r>
              <a:rPr lang="en-US" dirty="0"/>
              <a:t>Improves efficiency and reduces manual work.</a:t>
            </a:r>
          </a:p>
        </p:txBody>
      </p:sp>
      <p:pic>
        <p:nvPicPr>
          <p:cNvPr id="8" name="Picture 7">
            <a:extLst>
              <a:ext uri="{FF2B5EF4-FFF2-40B4-BE49-F238E27FC236}">
                <a16:creationId xmlns:a16="http://schemas.microsoft.com/office/drawing/2014/main" id="{465AA456-2321-2042-5B05-7421061DC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6355" y="2599788"/>
            <a:ext cx="5334462" cy="3596952"/>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790</Words>
  <Application>Microsoft Office PowerPoint</Application>
  <PresentationFormat>Widescreen</PresentationFormat>
  <Paragraphs>130</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Nagaraju Mudhiraj</cp:lastModifiedBy>
  <cp:revision>33</cp:revision>
  <dcterms:created xsi:type="dcterms:W3CDTF">2026-08-08T06:33:56Z</dcterms:created>
  <dcterms:modified xsi:type="dcterms:W3CDTF">2026-08-17T13:02:42Z</dcterms:modified>
</cp:coreProperties>
</file>